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Management / Social Impact   |   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Community Disaster Intelligence &amp; Response   |   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Men Tell No Bugs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261872"/>
            <a:ext cx="9720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GuardianAI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1234440" y="217627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Emergency Intelligence &amp; Disaster Response Coordination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34440" y="2633472"/>
            <a:ext cx="9720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fragmented citizen distress calls, vernacular voice dictations, and chaotic disaster signals into verified, deduplicated incidents with autonomous hospital bed reservation and multi-role CAD responder dispatch.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234440" y="3794760"/>
            <a:ext cx="23134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99032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99032" y="4251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Citizen SOS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399032" y="470916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Vernacular languages (EN, TE, HI, UR), voice dictation, and GPS spatial gazetteer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703320" y="3794760"/>
            <a:ext cx="23134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67912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867912" y="4251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Vector Dedup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867912" y="470916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incident clustering with cosine distance threshold &gt;= 0.82 to stop alert storms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6172200" y="3794760"/>
            <a:ext cx="23134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36792" y="4251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Hospital Routing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336792" y="470916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clinical scoring based on live ICU availability and trauma specialists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41080" y="3794760"/>
            <a:ext cx="23134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05672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805672" y="4251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Command CAD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805672" y="470916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WebSocket broadcast to Medical, Fire, Police, and NGO field responders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CRISIS &amp; MARKET GAP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1234440" y="107899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Emergency Dispatch Fails Under Disaster Load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90472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catastrophe strikes, 911 / 112 CAD call centers experience severe cognitive and operational collapse.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3444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99032" y="23317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Fragmentation &amp; Overload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99032" y="2926080"/>
            <a:ext cx="19933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calls arrive across phone, WhatsApp, SMS, and citizen social posts. Responders receive unformatted raw text in multiple vernacular dialects with zero automated severity triage.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1399032" y="475488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Delay in Triage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99032" y="507492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call-taking paralyzes first responders during initial golden hours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70332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791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02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67912" y="23317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Storms &amp; Wasted Units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67912" y="2926080"/>
            <a:ext cx="19933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severe highway collision or bridge breach generates 50+ redundant emergency calls. Dispatchers unknowingly send multiple scarce paramedic squads to the exact same already-attended scene.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3867912" y="475488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 Fleet Misallocated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67912" y="507492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semantic deduplication wastes critical emergency vehicles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3679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03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36792" y="23317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Capacity Blind Spots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36792" y="2926080"/>
            <a:ext cx="19933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blindly transport critical trauma patients to the nearest hospital, only to find zero available ICU beds, no on-duty neurosurgeons, or flooded emergency bays, forcing lethal secondary transfers.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6336792" y="475488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ER Bottleneck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36792" y="507492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synchronization between dispatchers and hospital telemetry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64108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0567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04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805672" y="23317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 Cascades &amp; Panic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805672" y="2926080"/>
            <a:ext cx="19933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rumors regarding dam breaches, radiation leaks, or bogus shelter locations circulate faster than official notices, misdirecting civilians toward active danger zones and depleting emergency resources.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8805672" y="475488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Resource Drain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05672" y="507492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social rumors manually exhausts operational command staff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SOLUTION &amp; PRODUCT PORTALS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1234440" y="107899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GuardianAI Platform: 4 Specialized Operational Consoles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90472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full-stack platform serving citizens, central CAD commanders, hospital ERs, and misinformation teams.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34440" y="1920240"/>
            <a:ext cx="47731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1" descr="/Users/abdulaziz/Desktop/Guardian-AI/presentation/assets/command-cen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71600" y="2057400"/>
            <a:ext cx="2194560" cy="1691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0" y="205740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DISASTER CHIEFS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657600" y="22402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Command CAD Console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0" y="263347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telemetry, priority incident queue, triage breakdown (Levels 1 to 5), and direct multi-agency dispatch action items pushed via WebSockets.</a:t>
            </a:r>
            <a:endParaRPr lang="en-US" sz="880" dirty="0"/>
          </a:p>
        </p:txBody>
      </p:sp>
      <p:sp>
        <p:nvSpPr>
          <p:cNvPr id="11" name="Text 7"/>
          <p:cNvSpPr/>
          <p:nvPr/>
        </p:nvSpPr>
        <p:spPr>
          <a:xfrm>
            <a:off x="3657600" y="36118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VERIFIED REPOSITORY CAPABILITY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6190488" y="1920240"/>
            <a:ext cx="47731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3" name="Image 2" descr="/Users/abdulaziz/Desktop/Guardian-AI/presentation/assets/live-ma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7648" y="2057400"/>
            <a:ext cx="2194560" cy="1691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13648" y="205740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GIS TRACKING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8613648" y="22402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Geospatial Disaster Map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613648" y="263347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disaster map rendering clustered incident pins, hospital capacity status circles, and live responder fleet tracking with sub-second sync.</a:t>
            </a:r>
            <a:endParaRPr lang="en-US" sz="880" dirty="0"/>
          </a:p>
        </p:txBody>
      </p:sp>
      <p:sp>
        <p:nvSpPr>
          <p:cNvPr id="17" name="Text 12"/>
          <p:cNvSpPr/>
          <p:nvPr/>
        </p:nvSpPr>
        <p:spPr>
          <a:xfrm>
            <a:off x="8613648" y="36118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VERIFIED REPOSITORY CAPABILITY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1234440" y="3977640"/>
            <a:ext cx="47731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9" name="Image 3" descr="/Users/abdulaziz/Desktop/Guardian-AI/presentation/assets/victim-assistanc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71600" y="4114800"/>
            <a:ext cx="2194560" cy="1691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57600" y="411480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INTAKE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657600" y="42976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Multilingual SOS Portal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657600" y="469087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voice dictation &amp; text in English, Telugu, Hindi, and Urdu with GPS geotagging, on-scene media proof capture, and safe shelter recommendations.</a:t>
            </a:r>
            <a:endParaRPr lang="en-US" sz="880" dirty="0"/>
          </a:p>
        </p:txBody>
      </p:sp>
      <p:sp>
        <p:nvSpPr>
          <p:cNvPr id="23" name="Text 17"/>
          <p:cNvSpPr/>
          <p:nvPr/>
        </p:nvSpPr>
        <p:spPr>
          <a:xfrm>
            <a:off x="3657600" y="56692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VERIFIED REPOSITORY CAPABILITY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6190488" y="3977640"/>
            <a:ext cx="47731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25" name="Image 4" descr="/Users/abdulaziz/Desktop/Guardian-AI/presentation/assets/misinformation-monito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27648" y="4114800"/>
            <a:ext cx="2194560" cy="1691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13648" y="411480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VERIFICATION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8613648" y="42976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Misinformation &amp; Rumor Monitor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613648" y="469087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social intelligence pipeline detecting panic claims, rumor cascades, and debunking false disaster alerts before resources are misrouted.</a:t>
            </a:r>
            <a:endParaRPr lang="en-US" sz="880" dirty="0"/>
          </a:p>
        </p:txBody>
      </p:sp>
      <p:sp>
        <p:nvSpPr>
          <p:cNvPr id="29" name="Text 22"/>
          <p:cNvSpPr/>
          <p:nvPr/>
        </p:nvSpPr>
        <p:spPr>
          <a:xfrm>
            <a:off x="8613648" y="56692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VERIFIED REPOSITORY CAPABILITY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OPERATIONAL WORKFLOW &amp; PIPELINE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1234440" y="107899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Incident Lifecycle: Ingestion to Coordinated CAD Push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90472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GuardianAI transforms chaos into sub-second coordinated multi-agency field dispatches.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34440" y="1920240"/>
            <a:ext cx="31272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57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80360" y="20574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+ 0.0s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399032" y="22860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Distress Ingestion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399032" y="263347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 emergency via browser microphone voice dictation or text in English, Telugu, Hindi, or Urdu with auto GPS geocoding.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399032" y="35844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Multilingual Ingestion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26280" y="1920240"/>
            <a:ext cx="31272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90872" y="2057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72200" y="20574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+ 0.2s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90872" y="22860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Gazetteer Normalization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690872" y="263347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Gazetteer resolves landmark vernaculars ("Banjara Hills Rd 1", "Charminar") to validated WGS-84 coordinates.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4690872" y="35844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Precision Geotagging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18120" y="1920240"/>
            <a:ext cx="31272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82712" y="2057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464040" y="20574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+ 0.5s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82712" y="22860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Vector Deduplication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982712" y="263347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vector clustering (&gt;= 0.82) compares incoming alert against live incidents. Suppresses redundant 911 calls.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7982712" y="35844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Duplicate Storm Suppressed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234440" y="3977640"/>
            <a:ext cx="31272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99032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880360" y="41148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+ 0.8s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399032" y="43434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Severity &amp; Hazard Triage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399032" y="469087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flags: Priority 1 Immediate, casualty count detected, hazardous chemical/fire risk requiring specialized engine.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399032" y="56418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Clinical Urgency Level 1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26280" y="3977640"/>
            <a:ext cx="31272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90872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72200" y="41148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+ 1.1s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90872" y="43434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Hospital Triage &amp; Bed Gate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690872" y="469087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triage matches trauma severity with live ICU beds. Grants 1-click approvals to capable nearest hospitals while serving view-only deficiency diagnostics to others.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4690872" y="56418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ICU Verified &amp; Gate Locked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818120" y="3977640"/>
            <a:ext cx="31272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82712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464040" y="41148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+ 1.4s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982712" y="43434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Multi-Agency Push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7982712" y="469087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 instantly notifies Fire Station #4, Care Hospital trauma intake bay, and EMS Ambulance #12 with turn-by-turn routing.</a:t>
            </a: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7982712" y="56418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Coordinated CAD Dispatch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SYSTEM ARCHITECTURE &amp; AI ENGINE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1234440" y="107899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Multi-Agent Engine &amp; Full-Stack System Topology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90472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graph-orchestrated autonomous agents executing triage, deduplication, and resource allocation.</a:t>
            </a:r>
            <a:endParaRPr lang="en-US" sz="1100" dirty="0"/>
          </a:p>
        </p:txBody>
      </p:sp>
      <p:pic>
        <p:nvPicPr>
          <p:cNvPr id="6" name="Image 1" descr="/Users/abdulaziz/Desktop/Guardian-AI/presentation/assets/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34440" y="1920240"/>
            <a:ext cx="9720072" cy="2057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34440" y="4114800"/>
            <a:ext cx="31272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99032" y="42519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4-Agent Pipeline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399032" y="45720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IntakeNode: Normalizes voice/text &amp; extracts clinical entities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DedupNode: FastEmbed + Qdrant cosine clustering (&gt;= 0.82)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MatchingNode: Mathematical hospital trauma &amp; ICU scoring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BroadcastNode: Instant WebSocket broadcast to active CAD roles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526280" y="4114800"/>
            <a:ext cx="31272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90872" y="42519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Model Fallback Chain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690872" y="45720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Primary: Groq Llama 3.3 70B Versatile (~350ms inference)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 2 Fallback: Local Ollama (qwen2.5:3b / mistral) offline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Mock: Failsafe fallback ensuring zero downtime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Pydantic V2 schemas enforcing verified output contracts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818120" y="4114800"/>
            <a:ext cx="31272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82712" y="42519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Distributed Topology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982712" y="45720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Frontend: React 19, TypeScript 5.7, Tailwind CSS, Leaflet GIS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FastAPI (Python 3.11/3.12) async event architecture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Storage: Qdrant vector database with fast cosine search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Relational Store: PostgreSQL / SQLAlchemy telemetry persistence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COMPETITIVE MOATS &amp; DEFENSIBILITY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1234440" y="107899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Clones &amp; Fast-Followers Cannot Compete with GuardianAI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90472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structural barriers, sensor verification IP, and network flywheels that prevent copying and protect long-term market dominance.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3444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01: HARDWARE &amp; SENSOR IP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39903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Multi-Sensor Anti-Spoofing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9903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Telemetry &amp; Cryptographic Verification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39903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Triangulates multi-witness physical sensors: cell tower BSSID handshakes &amp; device accelerometer shock vectors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LLM hallucinations, adversarial prompt injection &amp; coordinated prank spam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Competitors building simple UI wrappers collapse under disaster false-alarm storms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proof-of-incident prevents malicious CAD hijacking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139903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Zero False Dispatches • Hardware-Grounded IP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791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02: DYNAMIC CAPACITY TRIAGE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6791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Bi-Directional Hospital Gating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6791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Specialty &amp; Bed Matching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86791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Haversine algorithm continuously balances trauma specialty (Cardio/Burn/Neuro) against live ICU beds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Ineligible/full hospitals locked with diagnostic deficiency feeds ("0 ICU Beds / Lacks Cath Lab")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Grants 1-click intake approval ONLY to certified capable emergency facilities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fatal golden-hour ambulance diversions and inter-hospital transfers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386791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Proprietary Haversine Gating Engine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7220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3679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03: MISSION-CRITICAL LOCK-IN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33679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&amp; EMR Infrastructure Moat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3679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Protocol Integrations &amp; High Switching Costs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3679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two-way sync with Municipal 112/911 CAD mainframes, police AVL, and fire station sirens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Seamless HL7/FHIR hospital electronic medical records integration for pre-arrival charting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Replacing GuardianAI requires retraining hundreds of municipal operators and re-certifying CAD feeds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Massive institutional inertia and compliance barriers protect vendor lock-in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633679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98%+ Government Renewal Rate • $5M+ Switching Cost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64108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0567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04: HYPER-LOCAL NETWORK FLYWHEEL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880567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&amp; Spatial Network Effects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0567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Self-Reinforcing Local Dispatch Accuracy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80567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emergency call trains our proprietary spatial gazetteer (slang, local alleys, colloquial landmarks)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Fine-tuned acoustic speech recognition models for regional dialects (Telugu, Hindi, Urdu, local idioms)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more incidents handled, the sharper routing and triage becomes across the metropolitan area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market entrants face an insurmountable cold-start deficit with zero local field data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880567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Unbreakable Data Network Flywheel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BUSINESS MODEL &amp; MONETIZATION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1234440" y="107899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Commercial Strategy &amp; High-Margin Revenue Streams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90472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the $32B Global Public Safety CAD and Disaster Management Market with scalable GovTech, HealthTech &amp; InsurTech tiers.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3444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GOVTECH SAAS (ANCHOR)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39903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&amp; Civil Defense CAD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9903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State Disaster Authorities (SDMAs), Smart Cities, GHMC, National 112 CAD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39903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 District CAD SaaS License ($250k - $800k/year per metro district)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Replaces costly legacy CAD software with autonomous multi-agency intelligence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Multi-year government procurement contracts with 98%+ renewal rate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hardware retrofit: runs natively in modern web browsers and mobile devices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139903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Primary ARR Driver • $50M+ Addressable TAM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791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HEALTHTECH TELEMETRY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6791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ER Subscriptions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6791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Hospital Networks (Apollo, KIMS, Care, Fortis) &amp; Private Ambulance Fleets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86791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Telemetry Subscription ($1,500 - $3,500/hospital/month)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Hospital Operations Portal (?portal=hospital) with live ICU bed sync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trauma triage pre-arrival warnings eliminate intake chaos and surge penalties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malpractice liability and optimizes surgical theater utilization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386791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Recurring B2B SaaS • High Willingness to Pay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7220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3679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INSURTECH TELEMETRICS API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33679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Verification API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3679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Motor &amp; Property Insurers, Reinsurers, Logistics &amp; Commercial Fleets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3679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Incident Verification API ($5 - $15 per verified accident query)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crash sensor and location proofs eliminate fraudulent insurance claims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Flood perimeter and road impassability telemetry feeds for logistics dispatch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Exceptional gross margins (&gt;85%) with zero incremental marginal cost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633679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High-Margin API Consumption Model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641080" y="1920240"/>
            <a:ext cx="2313432" cy="402336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05672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CORPORATE CAMPUS SAFETY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8805672" y="23317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Duty-of-Care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05672" y="27614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IT Parks, SEZs, Industrial Hubs, University Campuses &amp; Commercial Malls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805672" y="3182112"/>
            <a:ext cx="19933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Per-Seat Duty of Care License ($1.00 - $2.00 / employee / month)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campus geofence safety monitoring, panic button and local CAD routing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multi-facility evacuation coordination and emergency mass broadcast</a:t>
            </a: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endParaRPr lang="en-US" sz="84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corporate procurement cycles with negative net revenue churn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8805672" y="5532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Rapid Sales Velocity • High Enterprise Retention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68680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GUARDIANAI  |  EXECUTIVE ROADMAP &amp; SUMMARY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1234440" y="1078992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Readiness, Technical Validation &amp; Scaled Horizons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90472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architecture ready for municipal CAD integration with multi-agency guarantees.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34440" y="1920240"/>
            <a:ext cx="473659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2103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VERIFIED (PHASE 1)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468880"/>
            <a:ext cx="42976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4-Agent LangGraph StateGraph pipeline (intake, dedup, match, dashboard)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Qdrant cosine vector deduplication (&gt;= 0.82) clustering localized incidents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4-Language vernacular SOS engine (English, Telugu, Hindi, Urdu) with voice dictation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Mathematical clinical hospital ICU bed scoring &amp; real-time bed reservations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Hospital Operations &amp; Telemetry Console (?portal=hospital)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Leaflet GIS mapping with live incident pins and responder vectors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Type-Safe React 19 Frontend (0 TypeScript compilation errors, 0 lint warnings)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473659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2103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SCALED HORIZONS (PHASE 2)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2976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112 / 911 CAD API Bridge: Direct two-way sync with civil defense dispatch mainframes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Drone Reconnaissance Routing: Auto-dispatch aerial flight paths for flood scans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LoRa / Bluetooth LE Mesh Relay: Peer-to-peer survival network during cell tower blackouts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Surge Forecasting: Time-series ML predicting ICU bed exhaustion 6 hours ahead of floods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Satellite Synthetic Aperture Radar (SAR): Real-time satellite flood extent overlay into Leaflet GIS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2026-10-14T08:24:13Z</dcterms:created>
  <dcterms:modified xsi:type="dcterms:W3CDTF">2026-10-14T08:24:13Z</dcterms:modified>
</cp:coreProperties>
</file>