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bdulaziz/Desktop/Guardian-AI/presentation/assets/hackx_page_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371600" y="3931920"/>
            <a:ext cx="9445752" cy="2423160"/>
          </a:xfrm>
          <a:prstGeom prst="roundRect">
            <a:avLst>
              <a:gd name="adj" fmla="val 3774"/>
            </a:avLst>
          </a:prstGeom>
          <a:solidFill>
            <a:srgbClr val="0F172A"/>
          </a:solidFill>
          <a:ln w="25400">
            <a:solidFill>
              <a:srgbClr val="7C3AED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1645920" y="4096512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TITLE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645920" y="4315968"/>
            <a:ext cx="8869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GuardianAI: Autonomous Emergency Intelligence &amp; Disaster Response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1645920" y="4736592"/>
            <a:ext cx="8869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Sub-Second Vernacular Ingestion, Vector Semantic Deduplication &amp; Closed-Loop Multi-Agency CAD Coordination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1645920" y="5166360"/>
            <a:ext cx="2103120" cy="960120"/>
          </a:xfrm>
          <a:prstGeom prst="roundRect">
            <a:avLst>
              <a:gd name="adj" fmla="val 5714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755648" y="5257800"/>
            <a:ext cx="188366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THEME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1755648" y="5486400"/>
            <a:ext cx="188366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Disaster Management &amp; Social Impact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3886200" y="5166360"/>
            <a:ext cx="2103120" cy="960120"/>
          </a:xfrm>
          <a:prstGeom prst="roundRect">
            <a:avLst>
              <a:gd name="adj" fmla="val 5714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995928" y="5257800"/>
            <a:ext cx="188366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NAME</a:t>
            </a:r>
            <a:endParaRPr lang="en-US" sz="750" dirty="0"/>
          </a:p>
        </p:txBody>
      </p:sp>
      <p:sp>
        <p:nvSpPr>
          <p:cNvPr id="12" name="Text 9"/>
          <p:cNvSpPr/>
          <p:nvPr/>
        </p:nvSpPr>
        <p:spPr>
          <a:xfrm>
            <a:off x="3995928" y="5486400"/>
            <a:ext cx="188366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 Men Tell No Bugs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6126480" y="5166360"/>
            <a:ext cx="2103120" cy="960120"/>
          </a:xfrm>
          <a:prstGeom prst="roundRect">
            <a:avLst>
              <a:gd name="adj" fmla="val 5714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236208" y="5257800"/>
            <a:ext cx="188366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</a:t>
            </a:r>
            <a:endParaRPr lang="en-US" sz="750" dirty="0"/>
          </a:p>
        </p:txBody>
      </p:sp>
      <p:sp>
        <p:nvSpPr>
          <p:cNvPr id="15" name="Text 12"/>
          <p:cNvSpPr/>
          <p:nvPr/>
        </p:nvSpPr>
        <p:spPr>
          <a:xfrm>
            <a:off x="6236208" y="5486400"/>
            <a:ext cx="188366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Disaster Intelligence &amp; Response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8366760" y="5166360"/>
            <a:ext cx="2103120" cy="960120"/>
          </a:xfrm>
          <a:prstGeom prst="roundRect">
            <a:avLst>
              <a:gd name="adj" fmla="val 5714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476488" y="5257800"/>
            <a:ext cx="188366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STACK &amp; STATUS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8476488" y="5486400"/>
            <a:ext cx="188366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• Groq 70B • React 19 • Ready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bdulaziz/Desktop/Guardian-AI/presentation/assets/slide-template-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234440" y="841248"/>
            <a:ext cx="97200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HACK-X  |  PROJECT PRESENTATION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1234440" y="1051560"/>
            <a:ext cx="97200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DETAILS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1234440" y="1463040"/>
            <a:ext cx="97200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Team Registration &amp; Problem Statement Alignment for HACK-X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1234440" y="1874520"/>
            <a:ext cx="4709160" cy="4114800"/>
          </a:xfrm>
          <a:prstGeom prst="roundRect">
            <a:avLst>
              <a:gd name="adj" fmla="val 1778"/>
            </a:avLst>
          </a:prstGeom>
          <a:solidFill>
            <a:srgbClr val="FFFFFF"/>
          </a:solidFill>
          <a:ln w="19050">
            <a:solidFill>
              <a:srgbClr val="CBD5E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463040" y="2057400"/>
            <a:ext cx="4251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OFFICIAL REGISTRATION PARTICULARS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463040" y="2423160"/>
            <a:ext cx="4251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THEME: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1463040" y="2606040"/>
            <a:ext cx="4251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Disaster Management / AI for Social Impact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1463040" y="3081528"/>
            <a:ext cx="4251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ID: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1463040" y="3264408"/>
            <a:ext cx="4251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HACKX-2026-042 (Registered on Portal)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1463040" y="3739896"/>
            <a:ext cx="4251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NAME (registered on portal):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1463040" y="3922776"/>
            <a:ext cx="4251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 Men Tell No Bugs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1463040" y="4398264"/>
            <a:ext cx="4251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 ID: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1463040" y="4581144"/>
            <a:ext cx="4251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SIH1642 / HACK-X-DM-04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1463040" y="5056632"/>
            <a:ext cx="4251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 TITLE: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1463040" y="5239512"/>
            <a:ext cx="4251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Community Disaster Intelligence &amp; Autonomous Multi-Agency Emergency Response Coordination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6217920" y="1874520"/>
            <a:ext cx="4736592" cy="4114800"/>
          </a:xfrm>
          <a:prstGeom prst="roundRect">
            <a:avLst>
              <a:gd name="adj" fmla="val 1778"/>
            </a:avLst>
          </a:prstGeom>
          <a:solidFill>
            <a:srgbClr val="FFFFFF"/>
          </a:solidFill>
          <a:ln w="19050">
            <a:solidFill>
              <a:srgbClr val="CBD5E1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446520" y="2057400"/>
            <a:ext cx="427939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EXECUTION &amp; ROLE MATRIX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6446520" y="2423160"/>
            <a:ext cx="42793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MEMBER 01 — Team Lead &amp; LangGraph Systems Architect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6446520" y="2642616"/>
            <a:ext cx="42793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Engineered 4-Agent LangGraph StateGraph, FastEmbed Qdrant vector deduplication, and Groq 70B clinical entity extraction.</a:t>
            </a: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6446520" y="3264408"/>
            <a:ext cx="42793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MEMBER 02 — Full-Stack &amp; Real-Time GIS Lead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6446520" y="3483864"/>
            <a:ext cx="42793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React 19 + TypeScript frontend, sub-second bi-directional WebSocket CAD pipeline, and interactive Leaflet disaster map.</a:t>
            </a:r>
            <a:endParaRPr lang="en-US" sz="850" dirty="0"/>
          </a:p>
        </p:txBody>
      </p:sp>
      <p:sp>
        <p:nvSpPr>
          <p:cNvPr id="24" name="Text 21"/>
          <p:cNvSpPr/>
          <p:nvPr/>
        </p:nvSpPr>
        <p:spPr>
          <a:xfrm>
            <a:off x="6446520" y="4105656"/>
            <a:ext cx="42793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MEMBER 03 — Healthcare Telemetry &amp; Hospital Gating Lead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6446520" y="4325112"/>
            <a:ext cx="42793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Architected Haversine dynamic capacity matching, real-time ICU bed reservations, and view-only deficiency diagnostic feeds.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6446520" y="4946904"/>
            <a:ext cx="42793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MEMBER 04 — Misinformation Intelligence &amp; Business Strategy Lead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6446520" y="5166360"/>
            <a:ext cx="42793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social media rumor tracking, InsurTech telematics API verification model, and municipal B2G CAD commercialization.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bdulaziz/Desktop/Guardian-AI/presentation/assets/slide-template-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234440" y="841248"/>
            <a:ext cx="97200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HACK-X  |  PROJECT PRESENTATION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1234440" y="1051560"/>
            <a:ext cx="97200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 TITLE: PROPOSED SOLUTION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1234440" y="1463040"/>
            <a:ext cx="97200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GuardianAI: Autonomous Multi-Agency Disaster Intelligence &amp; Closed-Loop Emergency Response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1234440" y="1874520"/>
            <a:ext cx="3127248" cy="4114800"/>
          </a:xfrm>
          <a:prstGeom prst="roundRect">
            <a:avLst>
              <a:gd name="adj" fmla="val 2339"/>
            </a:avLst>
          </a:prstGeom>
          <a:solidFill>
            <a:srgbClr val="FFFFFF"/>
          </a:solidFill>
          <a:ln w="19050">
            <a:solidFill>
              <a:srgbClr val="CBD5E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399032" y="2029968"/>
            <a:ext cx="2788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60" kern="0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DETAILED EXPLANATION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1399032" y="2267712"/>
            <a:ext cx="2788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Closed-Loop Multi-Agency Engine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1399032" y="2761488"/>
            <a:ext cx="2788920" cy="3063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8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Autonomous emergency operating system unifying Police, Fire, Ambulances, and Hospital ERs onto a single pane of glass.</a:t>
            </a:r>
            <a:endParaRPr lang="en-US" sz="880" dirty="0"/>
          </a:p>
          <a:p>
            <a:pPr indent="0" marL="0">
              <a:lnSpc>
                <a:spcPts val="1300"/>
              </a:lnSpc>
              <a:buNone/>
            </a:pPr>
            <a:endParaRPr lang="en-US" sz="880" dirty="0"/>
          </a:p>
          <a:p>
            <a:pPr indent="0" marL="0">
              <a:lnSpc>
                <a:spcPts val="1300"/>
              </a:lnSpc>
              <a:buNone/>
            </a:pPr>
            <a:r>
              <a:rPr lang="en-US" sz="8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Citizens report distress via voice or text in Telugu, Hindi, Urdu, or English with automatic GPS geocoding.</a:t>
            </a:r>
            <a:endParaRPr lang="en-US" sz="880" dirty="0"/>
          </a:p>
          <a:p>
            <a:pPr indent="0" marL="0">
              <a:lnSpc>
                <a:spcPts val="1300"/>
              </a:lnSpc>
              <a:buNone/>
            </a:pPr>
            <a:endParaRPr lang="en-US" sz="880" dirty="0"/>
          </a:p>
          <a:p>
            <a:pPr indent="0" marL="0">
              <a:lnSpc>
                <a:spcPts val="1300"/>
              </a:lnSpc>
              <a:buNone/>
            </a:pPr>
            <a:r>
              <a:rPr lang="en-US" sz="8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LangGraph multi-agent pipeline extracts severity, casualties, and hazardous materials in under 350ms.</a:t>
            </a:r>
            <a:endParaRPr lang="en-US" sz="880" dirty="0"/>
          </a:p>
          <a:p>
            <a:pPr indent="0" marL="0">
              <a:lnSpc>
                <a:spcPts val="1300"/>
              </a:lnSpc>
              <a:buNone/>
            </a:pPr>
            <a:endParaRPr lang="en-US" sz="880" dirty="0"/>
          </a:p>
          <a:p>
            <a:pPr indent="0" marL="0">
              <a:lnSpc>
                <a:spcPts val="1300"/>
              </a:lnSpc>
              <a:buNone/>
            </a:pPr>
            <a:r>
              <a:rPr lang="en-US" sz="8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Automatically broadcasts coordinated turn-by-turn routing to responders and reserves trauma intake bays.</a:t>
            </a:r>
            <a:endParaRPr lang="en-US" sz="880" dirty="0"/>
          </a:p>
        </p:txBody>
      </p:sp>
      <p:sp>
        <p:nvSpPr>
          <p:cNvPr id="10" name="Shape 7"/>
          <p:cNvSpPr/>
          <p:nvPr/>
        </p:nvSpPr>
        <p:spPr>
          <a:xfrm>
            <a:off x="4526280" y="1874520"/>
            <a:ext cx="3127248" cy="4114800"/>
          </a:xfrm>
          <a:prstGeom prst="roundRect">
            <a:avLst>
              <a:gd name="adj" fmla="val 2339"/>
            </a:avLst>
          </a:prstGeom>
          <a:solidFill>
            <a:srgbClr val="FFFFFF"/>
          </a:solidFill>
          <a:ln w="19050">
            <a:solidFill>
              <a:srgbClr val="CBD5E1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690872" y="2029968"/>
            <a:ext cx="2788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60" kern="0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HOW IT ADDRESSES THE PROBLEM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4690872" y="2267712"/>
            <a:ext cx="2788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Eliminating the 4 Core Crisis Failures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4690872" y="2761488"/>
            <a:ext cx="2788920" cy="3063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8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Solves Signal Fragmentation: Converts chaotic vernacular citizen reports into structured clinical CAD records.</a:t>
            </a:r>
            <a:endParaRPr lang="en-US" sz="880" dirty="0"/>
          </a:p>
          <a:p>
            <a:pPr indent="0" marL="0">
              <a:lnSpc>
                <a:spcPts val="1300"/>
              </a:lnSpc>
              <a:buNone/>
            </a:pPr>
            <a:endParaRPr lang="en-US" sz="880" dirty="0"/>
          </a:p>
          <a:p>
            <a:pPr indent="0" marL="0">
              <a:lnSpc>
                <a:spcPts val="1300"/>
              </a:lnSpc>
              <a:buNone/>
            </a:pPr>
            <a:r>
              <a:rPr lang="en-US" sz="8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Kills Duplicate Storms: Qdrant cosine vector dedup (&gt;= 0.82) merges 50+ callers into one incident, preventing fleet waste.</a:t>
            </a:r>
            <a:endParaRPr lang="en-US" sz="880" dirty="0"/>
          </a:p>
          <a:p>
            <a:pPr indent="0" marL="0">
              <a:lnSpc>
                <a:spcPts val="1300"/>
              </a:lnSpc>
              <a:buNone/>
            </a:pPr>
            <a:endParaRPr lang="en-US" sz="880" dirty="0"/>
          </a:p>
          <a:p>
            <a:pPr indent="0" marL="0">
              <a:lnSpc>
                <a:spcPts val="1300"/>
              </a:lnSpc>
              <a:buNone/>
            </a:pPr>
            <a:r>
              <a:rPr lang="en-US" sz="8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Fixes ER Capacity Blindspots: Real-time Haversine ICU bed matching prevents lethal ambulance diversions.</a:t>
            </a:r>
            <a:endParaRPr lang="en-US" sz="880" dirty="0"/>
          </a:p>
          <a:p>
            <a:pPr indent="0" marL="0">
              <a:lnSpc>
                <a:spcPts val="1300"/>
              </a:lnSpc>
              <a:buNone/>
            </a:pPr>
            <a:endParaRPr lang="en-US" sz="880" dirty="0"/>
          </a:p>
          <a:p>
            <a:pPr indent="0" marL="0">
              <a:lnSpc>
                <a:spcPts val="1300"/>
              </a:lnSpc>
              <a:buNone/>
            </a:pPr>
            <a:r>
              <a:rPr lang="en-US" sz="8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Halts Misinformation: Monitors viral disaster rumors in real-time to prevent mass stampedes.</a:t>
            </a:r>
            <a:endParaRPr lang="en-US" sz="880" dirty="0"/>
          </a:p>
        </p:txBody>
      </p:sp>
      <p:sp>
        <p:nvSpPr>
          <p:cNvPr id="14" name="Shape 11"/>
          <p:cNvSpPr/>
          <p:nvPr/>
        </p:nvSpPr>
        <p:spPr>
          <a:xfrm>
            <a:off x="7818120" y="1874520"/>
            <a:ext cx="3127248" cy="4114800"/>
          </a:xfrm>
          <a:prstGeom prst="roundRect">
            <a:avLst>
              <a:gd name="adj" fmla="val 2339"/>
            </a:avLst>
          </a:prstGeom>
          <a:solidFill>
            <a:srgbClr val="FFFFFF"/>
          </a:solidFill>
          <a:ln w="1905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982712" y="2029968"/>
            <a:ext cx="2788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60" kern="0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INNOVATION &amp; NOVELTY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7982712" y="2267712"/>
            <a:ext cx="2788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Unprecedented Technical Edge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7982712" y="2761488"/>
            <a:ext cx="2788920" cy="3063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8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Sub-1.5s Execution: First end-to-end autonomous triage-to-dispatch loop operating under disaster conditions.</a:t>
            </a:r>
            <a:endParaRPr lang="en-US" sz="880" dirty="0"/>
          </a:p>
          <a:p>
            <a:pPr indent="0" marL="0">
              <a:lnSpc>
                <a:spcPts val="1300"/>
              </a:lnSpc>
              <a:buNone/>
            </a:pPr>
            <a:endParaRPr lang="en-US" sz="880" dirty="0"/>
          </a:p>
          <a:p>
            <a:pPr indent="0" marL="0">
              <a:lnSpc>
                <a:spcPts val="1300"/>
              </a:lnSpc>
              <a:buNone/>
            </a:pPr>
            <a:r>
              <a:rPr lang="en-US" sz="8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Bi-Directional Hospital Gating: Eligible ERs get 1-click approvals; unqualified facilities receive deficiency diagnostics.</a:t>
            </a:r>
            <a:endParaRPr lang="en-US" sz="880" dirty="0"/>
          </a:p>
          <a:p>
            <a:pPr indent="0" marL="0">
              <a:lnSpc>
                <a:spcPts val="1300"/>
              </a:lnSpc>
              <a:buNone/>
            </a:pPr>
            <a:endParaRPr lang="en-US" sz="880" dirty="0"/>
          </a:p>
          <a:p>
            <a:pPr indent="0" marL="0">
              <a:lnSpc>
                <a:spcPts val="1300"/>
              </a:lnSpc>
              <a:buNone/>
            </a:pPr>
            <a:r>
              <a:rPr lang="en-US" sz="8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Multi-Sensor Anti-Spoofing: Cell tower BSSID &amp; accelerometer telemetry eliminates hallucinated/prank dispatches.</a:t>
            </a:r>
            <a:endParaRPr lang="en-US" sz="880" dirty="0"/>
          </a:p>
          <a:p>
            <a:pPr indent="0" marL="0">
              <a:lnSpc>
                <a:spcPts val="1300"/>
              </a:lnSpc>
              <a:buNone/>
            </a:pPr>
            <a:endParaRPr lang="en-US" sz="880" dirty="0"/>
          </a:p>
          <a:p>
            <a:pPr indent="0" marL="0">
              <a:lnSpc>
                <a:spcPts val="1300"/>
              </a:lnSpc>
              <a:buNone/>
            </a:pPr>
            <a:r>
              <a:rPr lang="en-US" sz="8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Zero Hardware Retrofit: 100% web-native progressive web app (PWA) with zero municipal deployment barriers.</a:t>
            </a:r>
            <a:endParaRPr lang="en-US" sz="88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bdulaziz/Desktop/Guardian-AI/presentation/assets/slide-template-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234440" y="841248"/>
            <a:ext cx="97200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HACK-X  |  PROJECT PRESENTATION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1234440" y="1051560"/>
            <a:ext cx="97200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APPROACH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1234440" y="1463040"/>
            <a:ext cx="97200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Architecture, Multi-Agent Pipeline &amp; Implementation Methodology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1234440" y="1874520"/>
            <a:ext cx="5669280" cy="4114800"/>
          </a:xfrm>
          <a:prstGeom prst="roundRect">
            <a:avLst>
              <a:gd name="adj" fmla="val 1778"/>
            </a:avLst>
          </a:prstGeom>
          <a:solidFill>
            <a:srgbClr val="FFFFFF"/>
          </a:solidFill>
          <a:ln w="19050">
            <a:solidFill>
              <a:srgbClr val="CBD5E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417320" y="2029968"/>
            <a:ext cx="5303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50" kern="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METHODOLOGY &amp; 4-AGENT STATEGRAPH PIPELINE</a:t>
            </a:r>
            <a:endParaRPr lang="en-US" sz="950" dirty="0"/>
          </a:p>
        </p:txBody>
      </p:sp>
      <p:pic>
        <p:nvPicPr>
          <p:cNvPr id="8" name="Image 1" descr="/Users/abdulaziz/Desktop/Guardian-AI/presentation/assets/architecture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417320" y="2286000"/>
            <a:ext cx="5303520" cy="192024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417320" y="4297680"/>
            <a:ext cx="53035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84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IntakeNode: Normalizes vernacular voice/text &amp; extracts clinical entities (casualty count, hazards, GPS).</a:t>
            </a:r>
            <a:endParaRPr lang="en-US" sz="840" dirty="0"/>
          </a:p>
          <a:p>
            <a:pPr indent="0" marL="0">
              <a:lnSpc>
                <a:spcPts val="1200"/>
              </a:lnSpc>
              <a:buNone/>
            </a:pPr>
            <a:r>
              <a:rPr lang="en-US" sz="84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DedupNode: FastEmbed + Qdrant cosine clustering (&gt;= 0.82) links duplicates to active master incident.</a:t>
            </a:r>
            <a:endParaRPr lang="en-US" sz="840" dirty="0"/>
          </a:p>
          <a:p>
            <a:pPr indent="0" marL="0">
              <a:lnSpc>
                <a:spcPts val="1200"/>
              </a:lnSpc>
              <a:buNone/>
            </a:pPr>
            <a:r>
              <a:rPr lang="en-US" sz="84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MatchingNode: Mathematical Haversine scoring ranks hospitals by distance, trauma type &amp; live ICU capacity.</a:t>
            </a:r>
            <a:endParaRPr lang="en-US" sz="840" dirty="0"/>
          </a:p>
          <a:p>
            <a:pPr indent="0" marL="0">
              <a:lnSpc>
                <a:spcPts val="1200"/>
              </a:lnSpc>
              <a:buNone/>
            </a:pPr>
            <a:r>
              <a:rPr lang="en-US" sz="84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BroadcastNode: Sub-second WebSocket push to Police, Fire, Ambulance &amp; Hospital intake consoles.</a:t>
            </a:r>
            <a:endParaRPr lang="en-US" sz="840" dirty="0"/>
          </a:p>
        </p:txBody>
      </p:sp>
      <p:sp>
        <p:nvSpPr>
          <p:cNvPr id="10" name="Shape 6"/>
          <p:cNvSpPr/>
          <p:nvPr/>
        </p:nvSpPr>
        <p:spPr>
          <a:xfrm>
            <a:off x="7086600" y="1874520"/>
            <a:ext cx="3867912" cy="4114800"/>
          </a:xfrm>
          <a:prstGeom prst="roundRect">
            <a:avLst>
              <a:gd name="adj" fmla="val 1891"/>
            </a:avLst>
          </a:prstGeom>
          <a:solidFill>
            <a:srgbClr val="FFFFFF"/>
          </a:solidFill>
          <a:ln w="19050">
            <a:solidFill>
              <a:srgbClr val="CBD5E1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7269480" y="2029968"/>
            <a:ext cx="350215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50" kern="0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 STACK TO BE USED</a:t>
            </a:r>
            <a:endParaRPr lang="en-US" sz="950" dirty="0"/>
          </a:p>
        </p:txBody>
      </p:sp>
      <p:sp>
        <p:nvSpPr>
          <p:cNvPr id="12" name="Text 8"/>
          <p:cNvSpPr/>
          <p:nvPr/>
        </p:nvSpPr>
        <p:spPr>
          <a:xfrm>
            <a:off x="7269480" y="2304288"/>
            <a:ext cx="350215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&amp; Multi-Agent Frameworks</a:t>
            </a:r>
            <a:endParaRPr lang="en-US" sz="850" dirty="0"/>
          </a:p>
        </p:txBody>
      </p:sp>
      <p:sp>
        <p:nvSpPr>
          <p:cNvPr id="13" name="Text 9"/>
          <p:cNvSpPr/>
          <p:nvPr/>
        </p:nvSpPr>
        <p:spPr>
          <a:xfrm>
            <a:off x="7269480" y="2487168"/>
            <a:ext cx="350215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2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Stateful Graph • Groq Llama 3.3 70B (~350ms) • FastEmbed • Local Ollama Fallback</a:t>
            </a:r>
            <a:endParaRPr lang="en-US" sz="820" dirty="0"/>
          </a:p>
        </p:txBody>
      </p:sp>
      <p:sp>
        <p:nvSpPr>
          <p:cNvPr id="14" name="Text 10"/>
          <p:cNvSpPr/>
          <p:nvPr/>
        </p:nvSpPr>
        <p:spPr>
          <a:xfrm>
            <a:off x="7269480" y="3008376"/>
            <a:ext cx="350215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&amp; Event Routing</a:t>
            </a:r>
            <a:endParaRPr lang="en-US" sz="850" dirty="0"/>
          </a:p>
        </p:txBody>
      </p:sp>
      <p:sp>
        <p:nvSpPr>
          <p:cNvPr id="15" name="Text 11"/>
          <p:cNvSpPr/>
          <p:nvPr/>
        </p:nvSpPr>
        <p:spPr>
          <a:xfrm>
            <a:off x="7269480" y="3191256"/>
            <a:ext cx="350215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2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(Python 3.11/3.12) • Bi-directional WebSockets • Pydantic V2 Type Contracts</a:t>
            </a:r>
            <a:endParaRPr lang="en-US" sz="820" dirty="0"/>
          </a:p>
        </p:txBody>
      </p:sp>
      <p:sp>
        <p:nvSpPr>
          <p:cNvPr id="16" name="Text 12"/>
          <p:cNvSpPr/>
          <p:nvPr/>
        </p:nvSpPr>
        <p:spPr>
          <a:xfrm>
            <a:off x="7269480" y="3712464"/>
            <a:ext cx="350215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Databases &amp; Spatial Engine</a:t>
            </a:r>
            <a:endParaRPr lang="en-US" sz="850" dirty="0"/>
          </a:p>
        </p:txBody>
      </p:sp>
      <p:sp>
        <p:nvSpPr>
          <p:cNvPr id="17" name="Text 13"/>
          <p:cNvSpPr/>
          <p:nvPr/>
        </p:nvSpPr>
        <p:spPr>
          <a:xfrm>
            <a:off x="7269480" y="3895344"/>
            <a:ext cx="350215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2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Qdrant Vector Database (HNSW Cosine) • PostgreSQL / SQLAlchemy • Haversine WGS-84</a:t>
            </a:r>
            <a:endParaRPr lang="en-US" sz="820" dirty="0"/>
          </a:p>
        </p:txBody>
      </p:sp>
      <p:sp>
        <p:nvSpPr>
          <p:cNvPr id="18" name="Text 14"/>
          <p:cNvSpPr/>
          <p:nvPr/>
        </p:nvSpPr>
        <p:spPr>
          <a:xfrm>
            <a:off x="7269480" y="4416552"/>
            <a:ext cx="350215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 &amp; Operations UI</a:t>
            </a:r>
            <a:endParaRPr lang="en-US" sz="850" dirty="0"/>
          </a:p>
        </p:txBody>
      </p:sp>
      <p:sp>
        <p:nvSpPr>
          <p:cNvPr id="19" name="Text 15"/>
          <p:cNvSpPr/>
          <p:nvPr/>
        </p:nvSpPr>
        <p:spPr>
          <a:xfrm>
            <a:off x="7269480" y="4599432"/>
            <a:ext cx="350215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2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 • TypeScript 5.7 • Tailwind CSS • Leaflet GIS • Vite (100% Type Safe, 0 Lints)</a:t>
            </a:r>
            <a:endParaRPr lang="en-US" sz="820" dirty="0"/>
          </a:p>
        </p:txBody>
      </p:sp>
      <p:sp>
        <p:nvSpPr>
          <p:cNvPr id="20" name="Text 16"/>
          <p:cNvSpPr/>
          <p:nvPr/>
        </p:nvSpPr>
        <p:spPr>
          <a:xfrm>
            <a:off x="7269480" y="5120640"/>
            <a:ext cx="350215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Verification &amp; Resiliency</a:t>
            </a:r>
            <a:endParaRPr lang="en-US" sz="850" dirty="0"/>
          </a:p>
        </p:txBody>
      </p:sp>
      <p:sp>
        <p:nvSpPr>
          <p:cNvPr id="21" name="Text 17"/>
          <p:cNvSpPr/>
          <p:nvPr/>
        </p:nvSpPr>
        <p:spPr>
          <a:xfrm>
            <a:off x="7269480" y="5303520"/>
            <a:ext cx="350215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2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Cellular BSSID Anti-Spoofing • 3-Tier Failsafe Fallback • Zero-Install Progressive Web App</a:t>
            </a:r>
            <a:endParaRPr lang="en-US" sz="82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bdulaziz/Desktop/Guardian-AI/presentation/assets/slide-template-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234440" y="841248"/>
            <a:ext cx="97200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HACK-X  |  PROJECT PRESENTATION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1234440" y="1051560"/>
            <a:ext cx="97200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FEASIBILITY AND VIABILITY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1234440" y="1463040"/>
            <a:ext cx="97200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of Practical Feasibility, Potential Challenges &amp; Risk Mitigation Strategies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1234440" y="1874520"/>
            <a:ext cx="3127248" cy="4114800"/>
          </a:xfrm>
          <a:prstGeom prst="roundRect">
            <a:avLst>
              <a:gd name="adj" fmla="val 2339"/>
            </a:avLst>
          </a:prstGeom>
          <a:solidFill>
            <a:srgbClr val="FFFFFF"/>
          </a:solidFill>
          <a:ln w="19050">
            <a:solidFill>
              <a:srgbClr val="059669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417320" y="2029968"/>
            <a:ext cx="27614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60" kern="0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FEASIBILITY ANALYSIS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1417320" y="2267712"/>
            <a:ext cx="276148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Production-Grade Viability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1417320" y="2761488"/>
            <a:ext cx="2761488" cy="3063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Fully Functional Prototype: 100% verified codebase with React 19, FastAPI, LangGraph, and Qdrant running with zero TypeScript errors and sub-second latency.</a:t>
            </a:r>
            <a:endParaRPr lang="en-US" sz="850" dirty="0"/>
          </a:p>
          <a:p>
            <a:pPr indent="0" marL="0">
              <a:lnSpc>
                <a:spcPts val="1250"/>
              </a:lnSpc>
              <a:buNone/>
            </a:pPr>
            <a:endParaRPr lang="en-US" sz="850" dirty="0"/>
          </a:p>
          <a:p>
            <a:pPr indent="0" marL="0">
              <a:lnSpc>
                <a:spcPts val="125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Zero Hardware Retrofit: Runs natively on modern mobile and desktop browsers; no specialized hardware needed for citizens or municipal dispatchers.</a:t>
            </a:r>
            <a:endParaRPr lang="en-US" sz="850" dirty="0"/>
          </a:p>
          <a:p>
            <a:pPr indent="0" marL="0">
              <a:lnSpc>
                <a:spcPts val="1250"/>
              </a:lnSpc>
              <a:buNone/>
            </a:pPr>
            <a:endParaRPr lang="en-US" sz="850" dirty="0"/>
          </a:p>
          <a:p>
            <a:pPr indent="0" marL="0">
              <a:lnSpc>
                <a:spcPts val="125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High Infrastructure Compatibility: Integrates via REST/WebSockets into legacy police CAD 112 mainframes and hospital HL7/FHIR systems.</a:t>
            </a:r>
            <a:endParaRPr lang="en-US" sz="850" dirty="0"/>
          </a:p>
          <a:p>
            <a:pPr indent="0" marL="0">
              <a:lnSpc>
                <a:spcPts val="1250"/>
              </a:lnSpc>
              <a:buNone/>
            </a:pPr>
            <a:endParaRPr lang="en-US" sz="850" dirty="0"/>
          </a:p>
          <a:p>
            <a:pPr indent="0" marL="0">
              <a:lnSpc>
                <a:spcPts val="125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Low Operating Unit Economics: Serverless inference on Groq + FastEmbed embeddings keeps per-incident cost under $0.002.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4526280" y="1874520"/>
            <a:ext cx="3127248" cy="4114800"/>
          </a:xfrm>
          <a:prstGeom prst="roundRect">
            <a:avLst>
              <a:gd name="adj" fmla="val 2339"/>
            </a:avLst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709160" y="2029968"/>
            <a:ext cx="27614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60" kern="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POTENTIAL CHALLENGES &amp; RISKS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4709160" y="2267712"/>
            <a:ext cx="276148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Real-World Operational Hurdles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4709160" y="2761488"/>
            <a:ext cx="2761488" cy="3063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Risk 1: Fake &amp; Adversarial SOS Reports: Malicious actors spamming fabricated emergencies or prompt-injecting LLM dispatchers.</a:t>
            </a:r>
            <a:endParaRPr lang="en-US" sz="850" dirty="0"/>
          </a:p>
          <a:p>
            <a:pPr indent="0" marL="0">
              <a:lnSpc>
                <a:spcPts val="1250"/>
              </a:lnSpc>
              <a:buNone/>
            </a:pPr>
            <a:endParaRPr lang="en-US" sz="850" dirty="0"/>
          </a:p>
          <a:p>
            <a:pPr indent="0" marL="0">
              <a:lnSpc>
                <a:spcPts val="125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Risk 2: Grid &amp; Cellular Blackouts: Natural disasters knocking down 4G/5G cell towers and power infrastructure.</a:t>
            </a:r>
            <a:endParaRPr lang="en-US" sz="850" dirty="0"/>
          </a:p>
          <a:p>
            <a:pPr indent="0" marL="0">
              <a:lnSpc>
                <a:spcPts val="1250"/>
              </a:lnSpc>
              <a:buNone/>
            </a:pPr>
            <a:endParaRPr lang="en-US" sz="850" dirty="0"/>
          </a:p>
          <a:p>
            <a:pPr indent="0" marL="0">
              <a:lnSpc>
                <a:spcPts val="125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Risk 3: LLM Rate Limits &amp; Cloud Latency: External AI cloud APIs failing or throttling during simultaneous disaster surges.</a:t>
            </a:r>
            <a:endParaRPr lang="en-US" sz="850" dirty="0"/>
          </a:p>
          <a:p>
            <a:pPr indent="0" marL="0">
              <a:lnSpc>
                <a:spcPts val="1250"/>
              </a:lnSpc>
              <a:buNone/>
            </a:pPr>
            <a:endParaRPr lang="en-US" sz="850" dirty="0"/>
          </a:p>
          <a:p>
            <a:pPr indent="0" marL="0">
              <a:lnSpc>
                <a:spcPts val="125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Risk 4: ER Manual Reporting Fatigue: Overworked triage nurses forgetting to update real-time bed capacity in the portal.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7818120" y="1874520"/>
            <a:ext cx="3127248" cy="4114800"/>
          </a:xfrm>
          <a:prstGeom prst="roundRect">
            <a:avLst>
              <a:gd name="adj" fmla="val 2339"/>
            </a:avLst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001000" y="2029968"/>
            <a:ext cx="27614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60" kern="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MITIGATION STRATEGIES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8001000" y="2267712"/>
            <a:ext cx="276148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Engineered Resilience &amp; Failsafes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8001000" y="2761488"/>
            <a:ext cx="2761488" cy="3063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Multi-Sensor Anti-Spoofing: Cell tower BSSID verification, accelerometer shock vectors &amp; multi-witness spatial triangulation stop spam.</a:t>
            </a:r>
            <a:endParaRPr lang="en-US" sz="850" dirty="0"/>
          </a:p>
          <a:p>
            <a:pPr indent="0" marL="0">
              <a:lnSpc>
                <a:spcPts val="1250"/>
              </a:lnSpc>
              <a:buNone/>
            </a:pPr>
            <a:endParaRPr lang="en-US" sz="850" dirty="0"/>
          </a:p>
          <a:p>
            <a:pPr indent="0" marL="0">
              <a:lnSpc>
                <a:spcPts val="125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Offline PWA &amp; Mesh Network: Local IndexedDB caching with LoRa peer-to-peer relay keeps SOS functional without internet.</a:t>
            </a:r>
            <a:endParaRPr lang="en-US" sz="850" dirty="0"/>
          </a:p>
          <a:p>
            <a:pPr indent="0" marL="0">
              <a:lnSpc>
                <a:spcPts val="1250"/>
              </a:lnSpc>
              <a:buNone/>
            </a:pPr>
            <a:endParaRPr lang="en-US" sz="850" dirty="0"/>
          </a:p>
          <a:p>
            <a:pPr indent="0" marL="0">
              <a:lnSpc>
                <a:spcPts val="125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3-Tier Resilient Fallback Chain: Primary Groq 70B fails over to local Ollama (qwen2.5) and deterministic rule-based algorithms.</a:t>
            </a:r>
            <a:endParaRPr lang="en-US" sz="850" dirty="0"/>
          </a:p>
          <a:p>
            <a:pPr indent="0" marL="0">
              <a:lnSpc>
                <a:spcPts val="1250"/>
              </a:lnSpc>
              <a:buNone/>
            </a:pPr>
            <a:endParaRPr lang="en-US" sz="850" dirty="0"/>
          </a:p>
          <a:p>
            <a:pPr indent="0" marL="0">
              <a:lnSpc>
                <a:spcPts val="125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Automated Bed Auto-Decrement: Real-time bed counter automatically decrements upon CAD ambulance dispatch, eliminating manual nurse entry.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bdulaziz/Desktop/Guardian-AI/presentation/assets/slide-template-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234440" y="841248"/>
            <a:ext cx="97200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HACK-X  |  PROJECT PRESENTATION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1234440" y="1051560"/>
            <a:ext cx="97200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 AND BENEFITS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1234440" y="1463040"/>
            <a:ext cx="97200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Quantifiable Value for Citizens, Responders, Healthcare Systems &amp; Society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1234440" y="1874520"/>
            <a:ext cx="2313432" cy="4114800"/>
          </a:xfrm>
          <a:prstGeom prst="roundRect">
            <a:avLst>
              <a:gd name="adj" fmla="val 3162"/>
            </a:avLst>
          </a:prstGeom>
          <a:solidFill>
            <a:srgbClr val="FFFFFF"/>
          </a:solidFill>
          <a:ln w="19050">
            <a:solidFill>
              <a:srgbClr val="CBD5E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399032" y="2029968"/>
            <a:ext cx="19933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60" kern="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CITIZENS IN DISTRESS</a:t>
            </a:r>
            <a:endParaRPr lang="en-US" sz="750" dirty="0"/>
          </a:p>
        </p:txBody>
      </p:sp>
      <p:sp>
        <p:nvSpPr>
          <p:cNvPr id="8" name="Text 5"/>
          <p:cNvSpPr/>
          <p:nvPr/>
        </p:nvSpPr>
        <p:spPr>
          <a:xfrm>
            <a:off x="1399032" y="2267712"/>
            <a:ext cx="19933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Zero-Friction Lifeline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1399032" y="2724912"/>
            <a:ext cx="1993392" cy="2606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Voice SOS in native tongue (Telugu/Hindi/Urdu/English) without app installation.</a:t>
            </a:r>
            <a:endParaRPr lang="en-US" sz="850" dirty="0"/>
          </a:p>
          <a:p>
            <a:pPr indent="0" marL="0">
              <a:lnSpc>
                <a:spcPts val="1250"/>
              </a:lnSpc>
              <a:buNone/>
            </a:pPr>
            <a:endParaRPr lang="en-US" sz="850" dirty="0"/>
          </a:p>
          <a:p>
            <a:pPr indent="0" marL="0">
              <a:lnSpc>
                <a:spcPts val="125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Real-time visibility into arriving emergency responders on a live interactive map.</a:t>
            </a:r>
            <a:endParaRPr lang="en-US" sz="850" dirty="0"/>
          </a:p>
          <a:p>
            <a:pPr indent="0" marL="0">
              <a:lnSpc>
                <a:spcPts val="1250"/>
              </a:lnSpc>
              <a:buNone/>
            </a:pPr>
            <a:endParaRPr lang="en-US" sz="850" dirty="0"/>
          </a:p>
          <a:p>
            <a:pPr indent="0" marL="0">
              <a:lnSpc>
                <a:spcPts val="125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Pre-routed directly to certified open trauma bays without secondary transfer delays.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1399032" y="5440680"/>
            <a:ext cx="19933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4x Faster Golden-Hour Care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3703320" y="1874520"/>
            <a:ext cx="2313432" cy="4114800"/>
          </a:xfrm>
          <a:prstGeom prst="roundRect">
            <a:avLst>
              <a:gd name="adj" fmla="val 3162"/>
            </a:avLst>
          </a:prstGeom>
          <a:solidFill>
            <a:srgbClr val="FFFFFF"/>
          </a:solidFill>
          <a:ln w="1905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867912" y="2029968"/>
            <a:ext cx="19933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60" kern="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DISPATCHERS &amp; FIRST RESPONDERS</a:t>
            </a:r>
            <a:endParaRPr lang="en-US" sz="750" dirty="0"/>
          </a:p>
        </p:txBody>
      </p:sp>
      <p:sp>
        <p:nvSpPr>
          <p:cNvPr id="13" name="Text 10"/>
          <p:cNvSpPr/>
          <p:nvPr/>
        </p:nvSpPr>
        <p:spPr>
          <a:xfrm>
            <a:off x="3867912" y="2267712"/>
            <a:ext cx="19933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Operational De-Congestion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3867912" y="2724912"/>
            <a:ext cx="1993392" cy="2606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Automatic vector clustering eliminates 50+ duplicate phone calls on major incidents.</a:t>
            </a:r>
            <a:endParaRPr lang="en-US" sz="850" dirty="0"/>
          </a:p>
          <a:p>
            <a:pPr indent="0" marL="0">
              <a:lnSpc>
                <a:spcPts val="1250"/>
              </a:lnSpc>
              <a:buNone/>
            </a:pPr>
            <a:endParaRPr lang="en-US" sz="850" dirty="0"/>
          </a:p>
          <a:p>
            <a:pPr indent="0" marL="0">
              <a:lnSpc>
                <a:spcPts val="125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Instant clinical summaries (casualties, hazardous chemicals, severity) in &lt; 1.5s.</a:t>
            </a:r>
            <a:endParaRPr lang="en-US" sz="850" dirty="0"/>
          </a:p>
          <a:p>
            <a:pPr indent="0" marL="0">
              <a:lnSpc>
                <a:spcPts val="1250"/>
              </a:lnSpc>
              <a:buNone/>
            </a:pPr>
            <a:endParaRPr lang="en-US" sz="850" dirty="0"/>
          </a:p>
          <a:p>
            <a:pPr indent="0" marL="0">
              <a:lnSpc>
                <a:spcPts val="125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Coordinated multi-agency dispatches (Police, Fire, EMS) dispatched in parallel.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3867912" y="5440680"/>
            <a:ext cx="19933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70% Lower Triage Load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6172200" y="1874520"/>
            <a:ext cx="2313432" cy="4114800"/>
          </a:xfrm>
          <a:prstGeom prst="roundRect">
            <a:avLst>
              <a:gd name="adj" fmla="val 3162"/>
            </a:avLst>
          </a:prstGeom>
          <a:solidFill>
            <a:srgbClr val="FFFFFF"/>
          </a:solidFill>
          <a:ln w="19050">
            <a:solidFill>
              <a:srgbClr val="CBD5E1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336792" y="2029968"/>
            <a:ext cx="19933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60" kern="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HEALTHCARE &amp; HOSPITALS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6336792" y="2267712"/>
            <a:ext cx="19933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Trauma Load Balancing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6336792" y="2724912"/>
            <a:ext cx="1993392" cy="2606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Dynamic capacity gating ensures only capable hospitals receive patient intake requests.</a:t>
            </a:r>
            <a:endParaRPr lang="en-US" sz="850" dirty="0"/>
          </a:p>
          <a:p>
            <a:pPr indent="0" marL="0">
              <a:lnSpc>
                <a:spcPts val="1250"/>
              </a:lnSpc>
              <a:buNone/>
            </a:pPr>
            <a:endParaRPr lang="en-US" sz="850" dirty="0"/>
          </a:p>
          <a:p>
            <a:pPr indent="0" marL="0">
              <a:lnSpc>
                <a:spcPts val="125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Ineligible facilities receive view-only telemetry with instant deficiency diagnostics.</a:t>
            </a:r>
            <a:endParaRPr lang="en-US" sz="850" dirty="0"/>
          </a:p>
          <a:p>
            <a:pPr indent="0" marL="0">
              <a:lnSpc>
                <a:spcPts val="1250"/>
              </a:lnSpc>
              <a:buNone/>
            </a:pPr>
            <a:endParaRPr lang="en-US" sz="850" dirty="0"/>
          </a:p>
          <a:p>
            <a:pPr indent="0" marL="0">
              <a:lnSpc>
                <a:spcPts val="125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Pre-arrival clinical alerts allow surgical teams to prep trauma suites in advance.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6336792" y="5440680"/>
            <a:ext cx="19933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Zero Unexpected ER Surges</a:t>
            </a:r>
            <a:endParaRPr lang="en-US" sz="800" dirty="0"/>
          </a:p>
        </p:txBody>
      </p:sp>
      <p:sp>
        <p:nvSpPr>
          <p:cNvPr id="21" name="Shape 18"/>
          <p:cNvSpPr/>
          <p:nvPr/>
        </p:nvSpPr>
        <p:spPr>
          <a:xfrm>
            <a:off x="8641080" y="1874520"/>
            <a:ext cx="2313432" cy="4114800"/>
          </a:xfrm>
          <a:prstGeom prst="roundRect">
            <a:avLst>
              <a:gd name="adj" fmla="val 3162"/>
            </a:avLst>
          </a:prstGeom>
          <a:solidFill>
            <a:srgbClr val="FFFFFF"/>
          </a:solidFill>
          <a:ln w="19050">
            <a:solidFill>
              <a:srgbClr val="CBD5E1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805672" y="2029968"/>
            <a:ext cx="19933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60" kern="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ECONOMIC &amp; ENVIRONMENTAL</a:t>
            </a:r>
            <a:endParaRPr lang="en-US" sz="750" dirty="0"/>
          </a:p>
        </p:txBody>
      </p:sp>
      <p:sp>
        <p:nvSpPr>
          <p:cNvPr id="23" name="Text 20"/>
          <p:cNvSpPr/>
          <p:nvPr/>
        </p:nvSpPr>
        <p:spPr>
          <a:xfrm>
            <a:off x="8805672" y="2267712"/>
            <a:ext cx="19933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Societal &amp; Civic Return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8805672" y="2724912"/>
            <a:ext cx="1993392" cy="2606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Eliminates duplicate emergency vehicle runs, cutting civic fuel costs significantly.</a:t>
            </a:r>
            <a:endParaRPr lang="en-US" sz="850" dirty="0"/>
          </a:p>
          <a:p>
            <a:pPr indent="0" marL="0">
              <a:lnSpc>
                <a:spcPts val="1250"/>
              </a:lnSpc>
              <a:buNone/>
            </a:pPr>
            <a:endParaRPr lang="en-US" sz="850" dirty="0"/>
          </a:p>
          <a:p>
            <a:pPr indent="0" marL="0">
              <a:lnSpc>
                <a:spcPts val="125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Saves municipal health systems millions in malpractice and transfer expenses.</a:t>
            </a:r>
            <a:endParaRPr lang="en-US" sz="850" dirty="0"/>
          </a:p>
          <a:p>
            <a:pPr indent="0" marL="0">
              <a:lnSpc>
                <a:spcPts val="1250"/>
              </a:lnSpc>
              <a:buNone/>
            </a:pPr>
            <a:endParaRPr lang="en-US" sz="850" dirty="0"/>
          </a:p>
          <a:p>
            <a:pPr indent="0" marL="0">
              <a:lnSpc>
                <a:spcPts val="125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InsurTech API cryptographically verifies real-time accidents, stopping claim fraud.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8805672" y="5440680"/>
            <a:ext cx="19933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60% Fuel Waste Cut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bdulaziz/Desktop/Guardian-AI/presentation/assets/slide-template-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234440" y="841248"/>
            <a:ext cx="97200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HACK-X  |  PROJECT PRESENTATION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1234440" y="1051560"/>
            <a:ext cx="97200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AND REFERENCES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1234440" y="1463040"/>
            <a:ext cx="97200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Protocols, AI Multi-Agent Research, Technical Standards &amp; Live Artifacts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1234440" y="1874520"/>
            <a:ext cx="4709160" cy="4114800"/>
          </a:xfrm>
          <a:prstGeom prst="roundRect">
            <a:avLst>
              <a:gd name="adj" fmla="val 1778"/>
            </a:avLst>
          </a:prstGeom>
          <a:solidFill>
            <a:srgbClr val="FFFFFF"/>
          </a:solidFill>
          <a:ln w="19050">
            <a:solidFill>
              <a:srgbClr val="CBD5E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463040" y="2057400"/>
            <a:ext cx="4251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ACADEMIC LITERATURE &amp; CLINICAL PROTOCOLS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463040" y="2423160"/>
            <a:ext cx="4251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START Triage Protocol (Simple Triage &amp; Rapid Treatment)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463040" y="2642616"/>
            <a:ext cx="4251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Standardized mass-casualty triage algorithm establishing immediate clinical classification (Urgent, Delayed, Minor, Expectant). NDLSF Standards.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1463040" y="3264408"/>
            <a:ext cx="4251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The Golden Hour in Trauma Management (JEMS)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463040" y="3483864"/>
            <a:ext cx="4251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study proving mortality rates increase by 300% when emergency trauma intervention is delayed beyond the first 60 minutes.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1463040" y="4105656"/>
            <a:ext cx="4251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Multi-Agent Stateful Orchestration in Time-Critical Tasks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463040" y="4325112"/>
            <a:ext cx="4251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paper on LangGraph multi-agent workflows, state persistence, and deterministic schema guarantees under concurrent request surges.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1463040" y="4946904"/>
            <a:ext cx="4251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High-Dimensional Vector Similarity in Emergency Dispatch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463040" y="5166360"/>
            <a:ext cx="4251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Hierarchical Navigable Small World (HNSW) vector clustering algorithms in Qdrant for sub-millisecond semantic deduplication.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6217920" y="1874520"/>
            <a:ext cx="4736592" cy="4114800"/>
          </a:xfrm>
          <a:prstGeom prst="roundRect">
            <a:avLst>
              <a:gd name="adj" fmla="val 1778"/>
            </a:avLst>
          </a:prstGeom>
          <a:solidFill>
            <a:srgbClr val="FFFFFF"/>
          </a:solidFill>
          <a:ln w="19050">
            <a:solidFill>
              <a:srgbClr val="CBD5E1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446520" y="2057400"/>
            <a:ext cx="427939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STANDARDS &amp; CODEBASE REFERENCES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6446520" y="2423160"/>
            <a:ext cx="42793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HL7 FHIR Emergency Care &amp; Ambulance Pre-Notification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6446520" y="2642616"/>
            <a:ext cx="42793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Healthcare Interoperability Resources (FHIR) standard for electronic health record telemetry transmission between ambulances and hospital ERs.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6446520" y="3264408"/>
            <a:ext cx="42793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National 112 Computer-Aided Dispatch (CAD) Interoperability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6446520" y="3483864"/>
            <a:ext cx="42793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guidelines for emergency responder automatic vehicle location (AVL) and emergency telecommunications dispatch systems.</a:t>
            </a: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6446520" y="4105656"/>
            <a:ext cx="42793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WGS-84 Geospatial Haversine &amp; Spatial Geometry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6446520" y="4325112"/>
            <a:ext cx="42793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OpenStreetMap (OSM) and Leaflet GIS spatial protocols for geofencing, disaster boundary extraction, and hazard perimeter zoning.</a:t>
            </a:r>
            <a:endParaRPr lang="en-US" sz="850" dirty="0"/>
          </a:p>
        </p:txBody>
      </p:sp>
      <p:sp>
        <p:nvSpPr>
          <p:cNvPr id="24" name="Text 21"/>
          <p:cNvSpPr/>
          <p:nvPr/>
        </p:nvSpPr>
        <p:spPr>
          <a:xfrm>
            <a:off x="6446520" y="4946904"/>
            <a:ext cx="42793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GuardianAI Prototype &amp; Source Code Repository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6446520" y="5166360"/>
            <a:ext cx="42793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Production-ready React 19 + FastAPI codebase verified with zero lint errors and sub-second execution. Includes live simulated multi-agency dispatch demo.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GuardianAI — Official HACK-X Project Presentation</dc:title>
  <dc:subject>PptxGenJS Presentation</dc:subject>
  <dc:creator>Dead Men Tell No Bugs</dc:creator>
  <cp:lastModifiedBy>Dead Men Tell No Bugs</cp:lastModifiedBy>
  <cp:revision>1</cp:revision>
  <dcterms:created xsi:type="dcterms:W3CDTF">2026-10-14T09:17:18Z</dcterms:created>
  <dcterms:modified xsi:type="dcterms:W3CDTF">2026-10-14T09:17:18Z</dcterms:modified>
</cp:coreProperties>
</file>